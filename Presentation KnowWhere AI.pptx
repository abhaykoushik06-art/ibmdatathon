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" y="914400"/>
            <a:ext cx="73152" cy="438912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9601200" cy="904863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5400" b="1" dirty="0">
                <a:solidFill>
                  <a:srgbClr val="FFFFFF"/>
                </a:solidFill>
                <a:latin typeface="Aptos"/>
              </a:rPr>
              <a:t>KNOWWHEN </a:t>
            </a:r>
            <a:r>
              <a:rPr lang="en-US" sz="5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5400" b="1" dirty="0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788920"/>
            <a:ext cx="9144000" cy="6400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300" b="0">
                <a:solidFill>
                  <a:srgbClr val="DEE7E4"/>
                </a:solidFill>
                <a:latin typeface="Aptos"/>
              </a:rPr>
              <a:t>An uncertainty-aware AI decision support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114800"/>
            <a:ext cx="7315200" cy="1151084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 dirty="0">
                <a:solidFill>
                  <a:srgbClr val="CAD5D3"/>
                </a:solidFill>
                <a:latin typeface="Aptos"/>
              </a:rPr>
              <a:t>Presented by: </a:t>
            </a:r>
            <a:r>
              <a:rPr lang="en-US" sz="1400" b="0" dirty="0">
                <a:solidFill>
                  <a:srgbClr val="CAD5D3"/>
                </a:solidFill>
                <a:latin typeface="Aptos"/>
              </a:rPr>
              <a:t>Team Astra 6.0 </a:t>
            </a:r>
          </a:p>
          <a:p>
            <a:pPr algn="l"/>
            <a:r>
              <a:rPr sz="1400" b="0" dirty="0">
                <a:solidFill>
                  <a:srgbClr val="CAD5D3"/>
                </a:solidFill>
                <a:latin typeface="Aptos"/>
              </a:rPr>
              <a:t>
Department </a:t>
            </a:r>
            <a:r>
              <a:rPr lang="en-US" sz="1400" dirty="0">
                <a:solidFill>
                  <a:srgbClr val="CAD5D3"/>
                </a:solidFill>
                <a:latin typeface="Aptos"/>
              </a:rPr>
              <a:t>:Electronics and communication engineering</a:t>
            </a:r>
            <a:endParaRPr lang="en-US" sz="1400" b="0" dirty="0">
              <a:solidFill>
                <a:srgbClr val="CAD5D3"/>
              </a:solidFill>
              <a:latin typeface="Aptos"/>
            </a:endParaRPr>
          </a:p>
          <a:p>
            <a:pPr algn="l"/>
            <a:endParaRPr lang="en-US" sz="1400" dirty="0">
              <a:solidFill>
                <a:srgbClr val="CAD5D3"/>
              </a:solidFill>
              <a:latin typeface="Aptos"/>
            </a:endParaRPr>
          </a:p>
          <a:p>
            <a:r>
              <a:rPr lang="en-IN" sz="1400" dirty="0">
                <a:solidFill>
                  <a:srgbClr val="CAD5D3"/>
                </a:solidFill>
                <a:latin typeface="Aptos"/>
              </a:rPr>
              <a:t>Institution: Global Academy of Technology</a:t>
            </a:r>
            <a:endParaRPr sz="1400" b="0" dirty="0">
              <a:solidFill>
                <a:srgbClr val="CAD5D3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5989320"/>
            <a:ext cx="45720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/>
            <a:r>
              <a:rPr sz="900" b="0">
                <a:solidFill>
                  <a:srgbClr val="B4BE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2704" y="299466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Presentation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14232" y="934516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669680" y="1190548"/>
            <a:ext cx="54864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 dirty="0">
                <a:solidFill>
                  <a:srgbClr val="2C707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9760" y="1190548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lang="en-US" sz="1600" b="1" dirty="0">
                <a:solidFill>
                  <a:srgbClr val="1F3042"/>
                </a:solidFill>
                <a:latin typeface="Aptos"/>
              </a:rPr>
              <a:t>Introduction  &amp; </a:t>
            </a:r>
            <a:r>
              <a:rPr sz="1600" b="1" dirty="0">
                <a:solidFill>
                  <a:srgbClr val="1F3042"/>
                </a:solidFill>
                <a:latin typeface="Aptos"/>
              </a:rPr>
              <a:t>Problem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0120" y="1190548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 dirty="0">
                <a:solidFill>
                  <a:srgbClr val="697377"/>
                </a:solidFill>
                <a:latin typeface="Aptos"/>
              </a:rPr>
              <a:t>Why uncertainty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2620" y="1602284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669680" y="1868094"/>
            <a:ext cx="54864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>
                <a:solidFill>
                  <a:srgbClr val="2C707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9760" y="1823328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Objectives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44400" y="1823376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697377"/>
                </a:solidFill>
                <a:latin typeface="Aptos"/>
              </a:rPr>
              <a:t>Inputs, analysis and decision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5480" y="2238366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692540" y="2548000"/>
            <a:ext cx="54864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 dirty="0">
                <a:solidFill>
                  <a:srgbClr val="2C70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9760" y="2534929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Existing Systems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44400" y="2539559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697377"/>
                </a:solidFill>
                <a:latin typeface="Aptos"/>
              </a:rPr>
              <a:t>Confidence, evidence and escalation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2620" y="3063577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661903" y="3246398"/>
            <a:ext cx="54864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>
                <a:solidFill>
                  <a:srgbClr val="2C7073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2620" y="3265573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Proposed System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12980" y="3224753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lang="en-US" sz="1600" dirty="0">
                <a:solidFill>
                  <a:srgbClr val="697377"/>
                </a:solidFill>
                <a:latin typeface="Aptos"/>
              </a:rPr>
              <a:t>KnowWhere AI</a:t>
            </a:r>
            <a:endParaRPr sz="1600" b="0" dirty="0">
              <a:solidFill>
                <a:srgbClr val="697377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2540" y="3974561"/>
            <a:ext cx="54864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>
                <a:solidFill>
                  <a:srgbClr val="2C7073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2620" y="3904355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Architecture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12980" y="3974561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lang="en-US" sz="1600" b="0" dirty="0">
                <a:solidFill>
                  <a:srgbClr val="697377"/>
                </a:solidFill>
                <a:latin typeface="Aptos"/>
              </a:rPr>
              <a:t>Structure</a:t>
            </a:r>
            <a:endParaRPr sz="1600" b="0" dirty="0">
              <a:solidFill>
                <a:srgbClr val="697377"/>
              </a:solidFill>
              <a:latin typeface="Apto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F04714-E9DA-8899-8AD8-811A67A79731}"/>
              </a:ext>
            </a:extLst>
          </p:cNvPr>
          <p:cNvSpPr/>
          <p:nvPr/>
        </p:nvSpPr>
        <p:spPr>
          <a:xfrm>
            <a:off x="1332620" y="4329349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79F0A9-5AAA-60ED-3010-7954050BF090}"/>
              </a:ext>
            </a:extLst>
          </p:cNvPr>
          <p:cNvSpPr txBox="1"/>
          <p:nvPr/>
        </p:nvSpPr>
        <p:spPr>
          <a:xfrm>
            <a:off x="692540" y="4531130"/>
            <a:ext cx="54864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 dirty="0">
                <a:solidFill>
                  <a:srgbClr val="2C7073"/>
                </a:solidFill>
                <a:latin typeface="Aptos"/>
              </a:rPr>
              <a:t>0</a:t>
            </a:r>
            <a:r>
              <a:rPr lang="en-US" sz="1600" b="1" dirty="0">
                <a:solidFill>
                  <a:srgbClr val="2C7073"/>
                </a:solidFill>
                <a:latin typeface="Aptos"/>
              </a:rPr>
              <a:t>6</a:t>
            </a:r>
            <a:endParaRPr sz="1600" b="1" dirty="0">
              <a:solidFill>
                <a:srgbClr val="2C7073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67521-DCC7-7E59-5767-39D0972BCAF9}"/>
              </a:ext>
            </a:extLst>
          </p:cNvPr>
          <p:cNvSpPr txBox="1"/>
          <p:nvPr/>
        </p:nvSpPr>
        <p:spPr>
          <a:xfrm>
            <a:off x="1332620" y="4531130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Implementation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ADD3E1-7141-E217-C308-D94165253984}"/>
              </a:ext>
            </a:extLst>
          </p:cNvPr>
          <p:cNvSpPr txBox="1"/>
          <p:nvPr/>
        </p:nvSpPr>
        <p:spPr>
          <a:xfrm>
            <a:off x="4212980" y="4531130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697377"/>
                </a:solidFill>
                <a:latin typeface="Aptos"/>
              </a:rPr>
              <a:t>Why uncertainty matters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56A117-45A9-C508-31E5-8FD3CE3A3619}"/>
              </a:ext>
            </a:extLst>
          </p:cNvPr>
          <p:cNvSpPr/>
          <p:nvPr/>
        </p:nvSpPr>
        <p:spPr>
          <a:xfrm>
            <a:off x="1332620" y="5035878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A5E27E-FF2F-B60B-070E-31B80658C39E}"/>
              </a:ext>
            </a:extLst>
          </p:cNvPr>
          <p:cNvSpPr txBox="1"/>
          <p:nvPr/>
        </p:nvSpPr>
        <p:spPr>
          <a:xfrm>
            <a:off x="715400" y="5280938"/>
            <a:ext cx="54864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 dirty="0">
                <a:solidFill>
                  <a:srgbClr val="2C7073"/>
                </a:solidFill>
                <a:latin typeface="Aptos"/>
              </a:rPr>
              <a:t>0</a:t>
            </a:r>
            <a:r>
              <a:rPr lang="en-US" sz="1600" b="1" dirty="0">
                <a:solidFill>
                  <a:srgbClr val="2C7073"/>
                </a:solidFill>
                <a:latin typeface="Aptos"/>
              </a:rPr>
              <a:t>7</a:t>
            </a:r>
            <a:endParaRPr sz="1600" b="1" dirty="0">
              <a:solidFill>
                <a:srgbClr val="2C7073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0805F6-6F3A-F74B-DE1A-9E3F66A6F9A8}"/>
              </a:ext>
            </a:extLst>
          </p:cNvPr>
          <p:cNvSpPr txBox="1"/>
          <p:nvPr/>
        </p:nvSpPr>
        <p:spPr>
          <a:xfrm>
            <a:off x="1332620" y="5280938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Testing  &amp; Results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0ACFF9-F292-DFDE-86B8-4FE68060E09E}"/>
              </a:ext>
            </a:extLst>
          </p:cNvPr>
          <p:cNvSpPr txBox="1"/>
          <p:nvPr/>
        </p:nvSpPr>
        <p:spPr>
          <a:xfrm>
            <a:off x="4212980" y="5280938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 dirty="0">
                <a:solidFill>
                  <a:srgbClr val="697377"/>
                </a:solidFill>
                <a:latin typeface="Aptos"/>
              </a:rPr>
              <a:t> analysis and decision flow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2A8303E-3F4B-4D6D-7D9B-CB1F2436579B}"/>
              </a:ext>
            </a:extLst>
          </p:cNvPr>
          <p:cNvSpPr/>
          <p:nvPr/>
        </p:nvSpPr>
        <p:spPr>
          <a:xfrm>
            <a:off x="1332620" y="5738138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46384C-8088-E063-38BE-E479E31969C7}"/>
              </a:ext>
            </a:extLst>
          </p:cNvPr>
          <p:cNvSpPr txBox="1"/>
          <p:nvPr/>
        </p:nvSpPr>
        <p:spPr>
          <a:xfrm>
            <a:off x="715400" y="5886270"/>
            <a:ext cx="54864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 dirty="0">
                <a:solidFill>
                  <a:srgbClr val="2C7073"/>
                </a:solidFill>
                <a:latin typeface="Aptos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CF6366-123F-6ADF-0925-0513FCCB291A}"/>
              </a:ext>
            </a:extLst>
          </p:cNvPr>
          <p:cNvSpPr txBox="1"/>
          <p:nvPr/>
        </p:nvSpPr>
        <p:spPr>
          <a:xfrm>
            <a:off x="1355480" y="5886270"/>
            <a:ext cx="2743200" cy="3200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r>
              <a:rPr lang="en-IN" sz="1600" dirty="0"/>
              <a:t>Future Scope</a:t>
            </a:r>
            <a:endParaRPr sz="16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58466F-704F-C6BD-7451-211CDC9C0888}"/>
              </a:ext>
            </a:extLst>
          </p:cNvPr>
          <p:cNvSpPr txBox="1"/>
          <p:nvPr/>
        </p:nvSpPr>
        <p:spPr>
          <a:xfrm>
            <a:off x="4212980" y="5888831"/>
            <a:ext cx="54864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 dirty="0">
                <a:solidFill>
                  <a:srgbClr val="697377"/>
                </a:solidFill>
                <a:latin typeface="Aptos"/>
              </a:rPr>
              <a:t>Wh</a:t>
            </a:r>
            <a:r>
              <a:rPr lang="en-US" sz="1600" b="0" dirty="0">
                <a:solidFill>
                  <a:srgbClr val="697377"/>
                </a:solidFill>
                <a:latin typeface="Aptos"/>
              </a:rPr>
              <a:t>ere</a:t>
            </a:r>
            <a:r>
              <a:rPr sz="1600" b="0" dirty="0">
                <a:solidFill>
                  <a:srgbClr val="697377"/>
                </a:solidFill>
                <a:latin typeface="Aptos"/>
              </a:rPr>
              <a:t> uncertainty matters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8909C3-AAEB-1445-B24B-20890EC78932}"/>
              </a:ext>
            </a:extLst>
          </p:cNvPr>
          <p:cNvSpPr/>
          <p:nvPr/>
        </p:nvSpPr>
        <p:spPr>
          <a:xfrm>
            <a:off x="1332620" y="3773395"/>
            <a:ext cx="8778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C951E-4E40-A7C7-5561-9653393F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Intoduction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AB64F-142B-B37E-3C27-385D59C119BE}"/>
              </a:ext>
            </a:extLst>
          </p:cNvPr>
          <p:cNvSpPr txBox="1"/>
          <p:nvPr/>
        </p:nvSpPr>
        <p:spPr>
          <a:xfrm>
            <a:off x="565608" y="1489435"/>
            <a:ext cx="111613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Artificial Intelligence (AI) is increasingly used to analyse information, solve problems and support decision-making. However, AI systems may sometimes generate recommendations based on incomplete information, uncertain predictions or conflicting evidence.</a:t>
            </a:r>
          </a:p>
          <a:p>
            <a:r>
              <a:rPr lang="en-IN" sz="2400" dirty="0"/>
              <a:t>	KNOWWHEN AI is designed to address this challenge by combining rule-based analysis with AI-assisted decision-making. It evaluates a given scenario, assesses the available evidence and confidence, and uses web research when additional information may help resolve uncertainty.</a:t>
            </a:r>
          </a:p>
          <a:p>
            <a:r>
              <a:rPr lang="en-IN" sz="2400" dirty="0"/>
              <a:t>	If the system can reach a sufficiently supported decision, it provides a recommendation. If uncertainty remains unresolved, it requests human intervention rather than forcing a decision.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283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42900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19659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15768"/>
            <a:ext cx="313639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A fluent answer is not necessarily a reliable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42900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54864" cy="196596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The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15768"/>
            <a:ext cx="313639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Weak evidence can lead to poor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2900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94560"/>
            <a:ext cx="54864" cy="196596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The need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15768"/>
            <a:ext cx="313639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A system that decides, researches, or requests human input.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>
                <a:solidFill>
                  <a:srgbClr val="1F3042"/>
                </a:solidFill>
                <a:latin typeface="Aptos"/>
              </a:rPr>
              <a:t>Project question: How can an AI system recommend an action while recognising when evidence is not strong enough?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Aim and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05840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2F363B"/>
                </a:solidFill>
                <a:latin typeface="Aptos"/>
              </a:rPr>
              <a:t>•  Classify a scenario by risk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1005840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2F363B"/>
                </a:solidFill>
                <a:latin typeface="Aptos"/>
              </a:rPr>
              <a:t>•  Generate a recommendation and confidence score on a 0–10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1005840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2F363B"/>
                </a:solidFill>
                <a:latin typeface="Aptos"/>
              </a:rPr>
              <a:t>•  Check evidence completeness and conflicting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1005840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2F363B"/>
                </a:solidFill>
                <a:latin typeface="Aptos"/>
              </a:rPr>
              <a:t>•  Use web research when a key fact is missing.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15968"/>
            <a:ext cx="1005840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0">
                <a:solidFill>
                  <a:srgbClr val="2F363B"/>
                </a:solidFill>
                <a:latin typeface="Aptos"/>
              </a:rPr>
              <a:t>•  Request human input only when uncertainty remains unresolved.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 dirty="0">
                <a:solidFill>
                  <a:srgbClr val="1F3042"/>
                </a:solidFill>
                <a:latin typeface="Aptos"/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69164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54864" cy="10515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724912"/>
            <a:ext cx="14173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Scenario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72968"/>
            <a:ext cx="139903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50591" y="2926080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20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560320"/>
            <a:ext cx="169164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71800" y="2651760"/>
            <a:ext cx="54864" cy="105156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6392" y="2724912"/>
            <a:ext cx="14173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Risk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3172968"/>
            <a:ext cx="139903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2926080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20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2560320"/>
            <a:ext cx="169164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12080" y="2651760"/>
            <a:ext cx="54864" cy="10515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76672" y="2724912"/>
            <a:ext cx="14173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AI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172968"/>
            <a:ext cx="139903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31152" y="2926080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20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2560320"/>
            <a:ext cx="169164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52360" y="2651760"/>
            <a:ext cx="54864" cy="105156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16952" y="2724912"/>
            <a:ext cx="14173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Evidence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172968"/>
            <a:ext cx="139903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71432" y="2926080"/>
            <a:ext cx="457200" cy="32004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20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2560320"/>
            <a:ext cx="169164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92640" y="2651760"/>
            <a:ext cx="54864" cy="105156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57232" y="2724912"/>
            <a:ext cx="14173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Decision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172968"/>
            <a:ext cx="139903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389120"/>
            <a:ext cx="10424160" cy="5943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600" b="1">
                <a:solidFill>
                  <a:srgbClr val="1F3042"/>
                </a:solidFill>
                <a:latin typeface="Aptos"/>
              </a:rPr>
              <a:t>Input → classify risk → assess confidence and evidence → research if needed → decide or request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Risk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/>
            <a:r>
              <a:rPr sz="900" b="0" dirty="0">
                <a:solidFill>
                  <a:srgbClr val="697377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429000" cy="224028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205740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15768"/>
            <a:ext cx="3136392" cy="1527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Routine, reversible cases. AI may decide when evidence and confidence are sufficient.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429000" cy="224028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54864" cy="205740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15768"/>
            <a:ext cx="3136392" cy="1527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More impact or uncertainty. Check evidence and consider targeted research.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29000" cy="224028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94560"/>
            <a:ext cx="54864" cy="205740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15768"/>
            <a:ext cx="3136392" cy="1527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Potentially serious consequences. Apply stronger safeguards and checks.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424160" cy="5943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Escalate because uncertainty cannot be resolved—not merely because the case is labelled high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AI assessment: fields to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3383280" cy="11887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4864" cy="100584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2199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3090672" cy="4754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What action is proposed?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057400"/>
            <a:ext cx="3383280" cy="11887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2148840"/>
            <a:ext cx="54864" cy="100584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1" y="222199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670048"/>
            <a:ext cx="3090672" cy="4754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Model estimate on a 0–10 scale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57400"/>
            <a:ext cx="3383280" cy="11887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148840"/>
            <a:ext cx="54864" cy="100584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22199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Evidence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670048"/>
            <a:ext cx="3090672" cy="4754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Is key information missing?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60"/>
            <a:ext cx="3383280" cy="11887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73075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Conflict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178808"/>
            <a:ext cx="3090672" cy="4754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Do facts or sources disagree?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566160"/>
            <a:ext cx="3383280" cy="11887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59" y="3657600"/>
            <a:ext cx="54864" cy="100584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1" y="373075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Reasoning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4178808"/>
            <a:ext cx="3090672" cy="4754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Which factors drove the answer?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566160"/>
            <a:ext cx="3383280" cy="11887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54864" cy="100584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94192" y="3730752"/>
            <a:ext cx="31089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Uncertainty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178808"/>
            <a:ext cx="3090672" cy="47548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What remains unresolved?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Confidence and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429000" cy="20574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1874519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Confidence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15768"/>
            <a:ext cx="3136392" cy="1344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Record the model's confidence estimate.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429000" cy="20574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54864" cy="1874519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Evidence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15768"/>
            <a:ext cx="3136392" cy="1344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Check relevance, recency, completeness and conflicts.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29000" cy="20574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94560"/>
            <a:ext cx="54864" cy="1874519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15768"/>
            <a:ext cx="3136392" cy="13441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Document the threshold and test it with scenarios.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8EBA-DAF3-4959-EA9B-1965A6BA1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AA237-8092-D994-4625-346AD3C67D08}"/>
              </a:ext>
            </a:extLst>
          </p:cNvPr>
          <p:cNvSpPr txBox="1"/>
          <p:nvPr/>
        </p:nvSpPr>
        <p:spPr>
          <a:xfrm>
            <a:off x="457200" y="1527142"/>
            <a:ext cx="11100062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1. Medical diagnosis and treatment support</a:t>
            </a:r>
          </a:p>
          <a:p>
            <a:r>
              <a:rPr lang="en-IN" sz="1700" b="1" dirty="0"/>
              <a:t>Mandatory human approval</a:t>
            </a:r>
          </a:p>
          <a:p>
            <a:r>
              <a:rPr lang="en-IN" sz="1700" b="1" dirty="0"/>
              <a:t>Scenario: </a:t>
            </a:r>
            <a:r>
              <a:rPr lang="en-IN" sz="1700" dirty="0"/>
              <a:t>AI analyses symptoms, reports or medical images and suggests a diagnosis or treatment.</a:t>
            </a:r>
          </a:p>
          <a:p>
            <a:r>
              <a:rPr lang="en-IN" sz="1700" b="1" dirty="0"/>
              <a:t>KNOWWHEN AI response: </a:t>
            </a:r>
            <a:r>
              <a:rPr lang="en-IN" sz="1700" dirty="0"/>
              <a:t>It may organise evidence and provide decision support, but it must not independently issue a diagnosis or initiate a treatment decision in the designated high-impact workflow.</a:t>
            </a:r>
          </a:p>
          <a:p>
            <a:r>
              <a:rPr lang="en-IN" sz="1700" b="1" dirty="0"/>
              <a:t>Human action: </a:t>
            </a:r>
            <a:r>
              <a:rPr lang="en-IN" sz="1700" dirty="0"/>
              <a:t>A qualified healthcare professional reviews the evidence and makes the clinical decision.</a:t>
            </a:r>
          </a:p>
          <a:p>
            <a:r>
              <a:rPr lang="en-IN" sz="1700" b="1" dirty="0"/>
              <a:t>Why: </a:t>
            </a:r>
            <a:r>
              <a:rPr lang="en-IN" sz="1700" dirty="0"/>
              <a:t>An incorrect medical decision can seriously affect a patient's health.</a:t>
            </a:r>
          </a:p>
          <a:p>
            <a:endParaRPr lang="en-IN" sz="1700" dirty="0"/>
          </a:p>
          <a:p>
            <a:endParaRPr lang="en-IN" sz="1700" dirty="0"/>
          </a:p>
          <a:p>
            <a:r>
              <a:rPr lang="en-IN" sz="1700" b="1" dirty="0"/>
              <a:t>2. Online banking and digital transactions</a:t>
            </a:r>
          </a:p>
          <a:p>
            <a:r>
              <a:rPr lang="en-IN" sz="1700" b="1" dirty="0"/>
              <a:t>Confirmation when required</a:t>
            </a:r>
          </a:p>
          <a:p>
            <a:r>
              <a:rPr lang="en-IN" sz="1700" b="1" dirty="0"/>
              <a:t>Scenario: </a:t>
            </a:r>
            <a:r>
              <a:rPr lang="en-IN" sz="1700" dirty="0"/>
              <a:t>An AI agent initiates a payment, detects unusual activity or encounters an unfamiliar recipient.</a:t>
            </a:r>
          </a:p>
          <a:p>
            <a:r>
              <a:rPr lang="en-IN" sz="1700" b="1" dirty="0"/>
              <a:t>KNOWWHEN AI response: </a:t>
            </a:r>
            <a:r>
              <a:rPr lang="en-IN" sz="1700" dirty="0"/>
              <a:t>It can check transaction details and flag anomalies, but should request user confirmation before a designated high-value, suspicious or irreversible transaction.</a:t>
            </a:r>
          </a:p>
          <a:p>
            <a:r>
              <a:rPr lang="en-IN" sz="1700" b="1" dirty="0"/>
              <a:t>Human action: </a:t>
            </a:r>
            <a:r>
              <a:rPr lang="en-IN" sz="1700" dirty="0"/>
              <a:t>The account holder verifies the recipient, amount and purpose before authorising the payment.</a:t>
            </a:r>
          </a:p>
          <a:p>
            <a:r>
              <a:rPr lang="en-IN" sz="1700" b="1" dirty="0"/>
              <a:t>Why: </a:t>
            </a:r>
            <a:r>
              <a:rPr lang="en-IN" sz="1700" dirty="0"/>
              <a:t>This helps reduce fraud, accidental payments and unauthorised transactions.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605616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8452D3-FC0D-6BE5-3C0C-4AC6BF84CFF0}"/>
              </a:ext>
            </a:extLst>
          </p:cNvPr>
          <p:cNvSpPr txBox="1"/>
          <p:nvPr/>
        </p:nvSpPr>
        <p:spPr>
          <a:xfrm>
            <a:off x="311085" y="179109"/>
            <a:ext cx="11576115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b="1" dirty="0"/>
              <a:t>3. Autonomous vehicles</a:t>
            </a:r>
          </a:p>
          <a:p>
            <a:r>
              <a:rPr lang="en-IN" sz="1700" b="1" dirty="0"/>
              <a:t>Safe fallback required</a:t>
            </a:r>
          </a:p>
          <a:p>
            <a:r>
              <a:rPr lang="en-IN" sz="1700" b="1" dirty="0"/>
              <a:t>Scenario: </a:t>
            </a:r>
            <a:r>
              <a:rPr lang="en-IN" sz="1700" dirty="0"/>
              <a:t>A self-driving vehicle encounters an obstacle, unclear road markings or conflicting sensor readings.</a:t>
            </a:r>
          </a:p>
          <a:p>
            <a:r>
              <a:rPr lang="en-IN" sz="1700" b="1" dirty="0"/>
              <a:t>KNOWWHEN AI response</a:t>
            </a:r>
            <a:r>
              <a:rPr lang="en-IN" sz="1700" dirty="0"/>
              <a:t>: If the system cannot safely resolve the situation, it should activate a validated minimal-risk manoeuvre, such as controlled slowing or stopping when appropriate, rather than inventing a confident action.</a:t>
            </a:r>
          </a:p>
          <a:p>
            <a:r>
              <a:rPr lang="en-IN" sz="1700" b="1" dirty="0"/>
              <a:t>Human action: </a:t>
            </a:r>
            <a:r>
              <a:rPr lang="en-IN" sz="1700" dirty="0"/>
              <a:t>Request assistance or driver intervention when feasible.</a:t>
            </a:r>
          </a:p>
          <a:p>
            <a:r>
              <a:rPr lang="en-IN" sz="1700" b="1" dirty="0"/>
              <a:t>Why: </a:t>
            </a:r>
            <a:r>
              <a:rPr lang="en-IN" sz="1700" dirty="0"/>
              <a:t>A vehicle cannot always wait for a user response before taking a safety-critical action.</a:t>
            </a:r>
          </a:p>
          <a:p>
            <a:endParaRPr lang="en-IN" sz="1700" dirty="0"/>
          </a:p>
          <a:p>
            <a:r>
              <a:rPr lang="en-IN" sz="1700" b="1" dirty="0"/>
              <a:t>4. Industrial robots and automated machinery</a:t>
            </a:r>
          </a:p>
          <a:p>
            <a:r>
              <a:rPr lang="en-IN" sz="1700" b="1" dirty="0"/>
              <a:t>Safety interlock</a:t>
            </a:r>
          </a:p>
          <a:p>
            <a:r>
              <a:rPr lang="en-IN" sz="1700" b="1" dirty="0"/>
              <a:t>Scenario</a:t>
            </a:r>
            <a:r>
              <a:rPr lang="en-IN" sz="1700" dirty="0"/>
              <a:t>: A robot detects an unexpected object, sensor disagreement or a person entering a restricted work area.</a:t>
            </a:r>
          </a:p>
          <a:p>
            <a:r>
              <a:rPr lang="en-IN" sz="1700" b="1" dirty="0"/>
              <a:t>KNOWWHEN AI response: </a:t>
            </a:r>
            <a:r>
              <a:rPr lang="en-IN" sz="1700" dirty="0"/>
              <a:t>It must follow the machine's validated safety controls and stop or enter a safe state when required. It must not rely solely on an AI-generated prediction to continue a dangerous operation.</a:t>
            </a:r>
          </a:p>
          <a:p>
            <a:r>
              <a:rPr lang="en-IN" sz="1700" b="1" dirty="0"/>
              <a:t>Human action: </a:t>
            </a:r>
            <a:r>
              <a:rPr lang="en-IN" sz="1700" dirty="0"/>
              <a:t>An authorised operator investigates and approves restart where required.</a:t>
            </a:r>
          </a:p>
          <a:p>
            <a:r>
              <a:rPr lang="en-IN" sz="1700" b="1" dirty="0"/>
              <a:t>Why: </a:t>
            </a:r>
            <a:r>
              <a:rPr lang="en-IN" sz="1700" dirty="0"/>
              <a:t>Incorrect actions can cause physical injury or equipment damage.</a:t>
            </a:r>
          </a:p>
          <a:p>
            <a:endParaRPr lang="en-IN" sz="1700" dirty="0"/>
          </a:p>
          <a:p>
            <a:r>
              <a:rPr lang="en-IN" sz="1700" b="1" dirty="0"/>
              <a:t>5. Cybersecurity and account access</a:t>
            </a:r>
          </a:p>
          <a:p>
            <a:r>
              <a:rPr lang="en-IN" sz="1700" b="1" dirty="0"/>
              <a:t>Approval for sensitive actions</a:t>
            </a:r>
          </a:p>
          <a:p>
            <a:r>
              <a:rPr lang="en-IN" sz="1700" b="1" dirty="0"/>
              <a:t>Scenario: </a:t>
            </a:r>
            <a:r>
              <a:rPr lang="en-IN" sz="1700" dirty="0"/>
              <a:t>An AI security agent detects an unusual login or proposes disabling an account, deleting files or changing access permissions.</a:t>
            </a:r>
          </a:p>
          <a:p>
            <a:r>
              <a:rPr lang="en-IN" sz="1700" b="1" dirty="0"/>
              <a:t>KNOWWHEN AI response: </a:t>
            </a:r>
            <a:r>
              <a:rPr lang="en-IN" sz="1700" dirty="0"/>
              <a:t>It can flag the activity and gather evidence. Sensitive or disruptive actions should require approval according to predefined security policy.</a:t>
            </a:r>
          </a:p>
          <a:p>
            <a:r>
              <a:rPr lang="en-IN" sz="1700" b="1" dirty="0"/>
              <a:t>Human action: </a:t>
            </a:r>
            <a:r>
              <a:rPr lang="en-IN" sz="1700" dirty="0"/>
              <a:t>An authorised security administrator verifies the event and approves the proposed action.</a:t>
            </a:r>
          </a:p>
          <a:p>
            <a:r>
              <a:rPr lang="en-IN" sz="1700" b="1" dirty="0"/>
              <a:t>Why: </a:t>
            </a:r>
            <a:r>
              <a:rPr lang="en-IN" sz="1700" dirty="0"/>
              <a:t>False alarms can lock out legitimate users or disrupt important systems.</a:t>
            </a:r>
          </a:p>
          <a:p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340807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Research and reassessment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2514600" cy="18288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" cy="164592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22402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1. Identify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90088"/>
            <a:ext cx="2221992" cy="11155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What fact could change the decision?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3017520"/>
            <a:ext cx="2286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7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77440"/>
            <a:ext cx="2514600" cy="18288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66160" y="2468880"/>
            <a:ext cx="54864" cy="164592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2542032"/>
            <a:ext cx="22402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2.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990088"/>
            <a:ext cx="2221992" cy="11155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Retrieve relevant sources.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017520"/>
            <a:ext cx="2286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7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377440"/>
            <a:ext cx="2514600" cy="18288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2468880"/>
            <a:ext cx="54864" cy="164592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2542032"/>
            <a:ext cx="22402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3.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990088"/>
            <a:ext cx="2221992" cy="11155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Summarise evidence and disagreement.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3017520"/>
            <a:ext cx="22860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7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377440"/>
            <a:ext cx="2514600" cy="182880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2468880"/>
            <a:ext cx="54864" cy="164592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0032" y="2542032"/>
            <a:ext cx="22402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4. Reassess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990088"/>
            <a:ext cx="2221992" cy="111556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Update recommendation and confidence.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54880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1">
                <a:solidFill>
                  <a:srgbClr val="1F3042"/>
                </a:solidFill>
                <a:latin typeface="Aptos"/>
              </a:rPr>
              <a:t>Record source names, dates, and how the evidence changed—or did not change—the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548640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900" b="1">
                <a:solidFill>
                  <a:srgbClr val="2C7073"/>
                </a:solidFill>
                <a:latin typeface="Aptos"/>
              </a:rPr>
              <a:t>DECISION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Decision engine: three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200" b="0">
                <a:solidFill>
                  <a:srgbClr val="697377"/>
                </a:solidFill>
                <a:latin typeface="Aptos"/>
              </a:rPr>
              <a:t>Use the same labels in the code, flowchart and live demo.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429000" cy="219456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54864" cy="2011679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136392" cy="14813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Evidence is adequate, no unresolved conflict, and confidence meets the chosen threshold.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48840"/>
            <a:ext cx="3429000" cy="219456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240280"/>
            <a:ext cx="54864" cy="2011679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31343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61488"/>
            <a:ext cx="3136392" cy="14813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A key uncertainty may be resolved by checking additional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48840"/>
            <a:ext cx="3429000" cy="219456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240280"/>
            <a:ext cx="54864" cy="2011679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31343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HUMAN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61488"/>
            <a:ext cx="3136392" cy="14813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Research is exhausted or the decision remains unresolved or unsuitable for autonomous handling.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92040"/>
            <a:ext cx="10241280" cy="5029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Human review is a fallback for unresolved uncertainty—not the default for every high-risk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548640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900" b="1">
                <a:solidFill>
                  <a:srgbClr val="2C7073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200" b="0">
                <a:solidFill>
                  <a:srgbClr val="697377"/>
                </a:solidFill>
                <a:latin typeface="Aptos"/>
              </a:rPr>
              <a:t>Replace this simplified sequence with a screenshot or diagram from your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64240" cy="10972"/>
          </a:xfrm>
          <a:prstGeom prst="rect">
            <a:avLst/>
          </a:prstGeom>
          <a:solidFill>
            <a:srgbClr val="D6D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45720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800" b="0">
                <a:solidFill>
                  <a:srgbClr val="697377"/>
                </a:solidFill>
                <a:latin typeface="Aptos"/>
              </a:rPr>
              <a:t>KNOWWHEN AI  | 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457200" cy="1828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r"/>
            <a:r>
              <a:rPr sz="900" b="0">
                <a:solidFill>
                  <a:srgbClr val="697377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178308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54864" cy="10515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679192"/>
            <a:ext cx="15087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Scenario entered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127248"/>
            <a:ext cx="149047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2926080"/>
            <a:ext cx="4114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8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514600"/>
            <a:ext cx="178308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80360" y="2606040"/>
            <a:ext cx="54864" cy="105156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44952" y="2679192"/>
            <a:ext cx="15087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Initial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3127248"/>
            <a:ext cx="149047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80"/>
            <a:ext cx="4114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8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2514600"/>
            <a:ext cx="178308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0640" y="2606040"/>
            <a:ext cx="54864" cy="105156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85231" y="2679192"/>
            <a:ext cx="15087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Evidence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1" y="3127248"/>
            <a:ext cx="149047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2926080"/>
            <a:ext cx="4114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8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514600"/>
            <a:ext cx="178308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60920" y="2606040"/>
            <a:ext cx="54864" cy="105156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25512" y="2679192"/>
            <a:ext cx="15087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Research + reassess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127248"/>
            <a:ext cx="149047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2926080"/>
            <a:ext cx="411480" cy="2743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ctr"/>
            <a:r>
              <a:rPr sz="1800" b="1">
                <a:solidFill>
                  <a:srgbClr val="697377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514600"/>
            <a:ext cx="1783080" cy="12344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2606040"/>
            <a:ext cx="54864" cy="10515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65792" y="2679192"/>
            <a:ext cx="15087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Final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127248"/>
            <a:ext cx="1490472" cy="5212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If evidence is sufficient → DECIDE. If a resolvable gap exists → RESEARCH and reassess.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37760"/>
            <a:ext cx="10058400" cy="411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697377"/>
                </a:solidFill>
                <a:latin typeface="Aptos"/>
              </a:rPr>
              <a:t>If uncertainty remains after reassessment → HUMAN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5486400" cy="2286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900" b="1">
                <a:solidFill>
                  <a:srgbClr val="2C7073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Implementation and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200" b="0">
                <a:solidFill>
                  <a:srgbClr val="697377"/>
                </a:solidFill>
                <a:latin typeface="Aptos"/>
              </a:rPr>
              <a:t>List only the tools and services used in the version you demonstrate.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429000" cy="21031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1920239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15768"/>
            <a:ext cx="3136392" cy="138988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Python / Jupyter Notebook
Scenario input and report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03120"/>
            <a:ext cx="3429000" cy="21031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94560"/>
            <a:ext cx="54864" cy="1920239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AI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15768"/>
            <a:ext cx="3136392" cy="138988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[OpenRouter API or local Ollama]
Structured response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103120"/>
            <a:ext cx="3429000" cy="210312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94560"/>
            <a:ext cx="54864" cy="1920239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26771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Research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715768"/>
            <a:ext cx="3136392" cy="1389887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[Web search tool / library]
Evidence summary and reassessment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54880"/>
            <a:ext cx="10332720" cy="6400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1">
                <a:solidFill>
                  <a:srgbClr val="1F3042"/>
                </a:solidFill>
                <a:latin typeface="Aptos"/>
              </a:rPr>
              <a:t>Add a code screenshot, dependency list or architecture detail. Never include API keys or other secrets.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48936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lang="en-US" sz="2700" b="1" dirty="0">
                <a:solidFill>
                  <a:srgbClr val="1F3042"/>
                </a:solidFill>
                <a:latin typeface="Aptos"/>
              </a:rPr>
              <a:t>Use of both Rule Based and Evidence Review</a:t>
            </a:r>
            <a:endParaRPr sz="2700" b="1" dirty="0">
              <a:solidFill>
                <a:srgbClr val="1F3042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2011680" cy="585216"/>
          </a:xfrm>
          <a:prstGeom prst="rect">
            <a:avLst/>
          </a:prstGeom>
          <a:solidFill>
            <a:srgbClr val="1F3042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84708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Aspect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011680"/>
            <a:ext cx="3886200" cy="585216"/>
          </a:xfrm>
          <a:prstGeom prst="rect">
            <a:avLst/>
          </a:prstGeom>
          <a:solidFill>
            <a:srgbClr val="1F3042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0360" y="2103120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Trial 2: rule-based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011680"/>
            <a:ext cx="3886200" cy="585216"/>
          </a:xfrm>
          <a:prstGeom prst="rect">
            <a:avLst/>
          </a:prstGeom>
          <a:solidFill>
            <a:srgbClr val="1F3042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59" y="2103120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Trial 4: AI + evidence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24328"/>
            <a:ext cx="201168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715768"/>
            <a:ext cx="184708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2F363B"/>
                </a:solidFill>
                <a:latin typeface="Aptos"/>
              </a:rPr>
              <a:t>Approach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88920" y="2624328"/>
            <a:ext cx="388620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2715768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Predefined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624328"/>
            <a:ext cx="388620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59" y="2715768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AI recommendation and evidence checks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36976"/>
            <a:ext cx="2011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328416"/>
            <a:ext cx="184708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2F363B"/>
                </a:solidFill>
                <a:latin typeface="Aptos"/>
              </a:rPr>
              <a:t>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3236976"/>
            <a:ext cx="38862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80360" y="3328416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Rule-based result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3236976"/>
            <a:ext cx="38862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59" y="3328416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Recommendation, confidence and explanation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849624"/>
            <a:ext cx="201168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3941064"/>
            <a:ext cx="184708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2F363B"/>
                </a:solidFill>
                <a:latin typeface="Aptos"/>
              </a:rPr>
              <a:t>Uncertainty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3849624"/>
            <a:ext cx="388620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3941064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Depends on coded conditions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849624"/>
            <a:ext cx="388620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59" y="3941064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Can identify gaps and trigger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462272"/>
            <a:ext cx="201168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553712"/>
            <a:ext cx="184708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2F363B"/>
                </a:solidFill>
                <a:latin typeface="Aptos"/>
              </a:rPr>
              <a:t>Adaptability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462272"/>
            <a:ext cx="38862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80360" y="4553712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Predictable; less flexible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4462272"/>
            <a:ext cx="3886200" cy="585216"/>
          </a:xfrm>
          <a:prstGeom prst="rect">
            <a:avLst/>
          </a:prstGeom>
          <a:solidFill>
            <a:srgbClr val="FFFFFF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66559" y="4553712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Flexible; requires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074920"/>
            <a:ext cx="201168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" y="5166360"/>
            <a:ext cx="184708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1">
                <a:solidFill>
                  <a:srgbClr val="2F363B"/>
                </a:solidFill>
                <a:latin typeface="Aptos"/>
              </a:rPr>
              <a:t>Limitation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88920" y="5074920"/>
            <a:ext cx="388620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80360" y="5166360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May miss context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5074920"/>
            <a:ext cx="3886200" cy="585216"/>
          </a:xfrm>
          <a:prstGeom prst="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66559" y="5166360"/>
            <a:ext cx="3721608" cy="402336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100" b="0">
                <a:solidFill>
                  <a:srgbClr val="2F363B"/>
                </a:solidFill>
                <a:latin typeface="Aptos"/>
              </a:rPr>
              <a:t>Can still be wrong or inconsistent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Example scenario: follow one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260604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331720"/>
            <a:ext cx="54864" cy="19659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404872"/>
            <a:ext cx="23317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52928"/>
            <a:ext cx="231343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[Scenario and known facts]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240280"/>
            <a:ext cx="260604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2331720"/>
            <a:ext cx="54864" cy="1965960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404872"/>
            <a:ext cx="23317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INITIAL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852928"/>
            <a:ext cx="231343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[Risk, answer, confidence, missing evidence]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240280"/>
            <a:ext cx="260604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331720"/>
            <a:ext cx="54864" cy="1965960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2404872"/>
            <a:ext cx="23317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852928"/>
            <a:ext cx="231343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[What was checked and what changed?]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240280"/>
            <a:ext cx="2606040" cy="214884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2331720"/>
            <a:ext cx="54864" cy="196596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00032" y="2404872"/>
            <a:ext cx="233172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FINAL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852928"/>
            <a:ext cx="2313432" cy="143560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[Decision and explanation]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Benefits, limitations and safeguards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2057400"/>
            <a:ext cx="3429000" cy="242316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4864" cy="2240279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2199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670048"/>
            <a:ext cx="3136392" cy="1709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• Clear decision path
• Evidence-aware responses
• Human fallback when unresolved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57400"/>
            <a:ext cx="3429000" cy="242316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2148840"/>
            <a:ext cx="54864" cy="2240279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222199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670048"/>
            <a:ext cx="3136392" cy="1709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• Confidence is not guaranteed truth
• Search results may be incomplete
• API/model availability can vary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57400"/>
            <a:ext cx="3429000" cy="2423160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2148840"/>
            <a:ext cx="54864" cy="2240279"/>
          </a:xfrm>
          <a:prstGeom prst="rect">
            <a:avLst/>
          </a:prstGeom>
          <a:solidFill>
            <a:srgbClr val="1F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2" y="2221992"/>
            <a:ext cx="315468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Safeguards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670048"/>
            <a:ext cx="3136392" cy="1709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>
                <a:solidFill>
                  <a:srgbClr val="2F363B"/>
                </a:solidFill>
                <a:latin typeface="Aptos"/>
              </a:rPr>
              <a:t>• Validate with test cases
• Show sources and uncertainty
• Protect keys and user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Future scope and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585216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•  Evaluate confidence calibration against labelled test cases.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585216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•  Add source-quality scoring and citation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91256"/>
            <a:ext cx="585216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•  Compare local and hosted models on identical scenarios.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58183"/>
            <a:ext cx="585216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•  Build a dashboard for outcomes, errors and escalations.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2700" b="1">
                <a:solidFill>
                  <a:srgbClr val="1F3042"/>
                </a:solidFill>
                <a:latin typeface="Aptos"/>
              </a:rPr>
              <a:t>References and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55648"/>
            <a:ext cx="548640" cy="41148"/>
          </a:xfrm>
          <a:prstGeom prst="rect">
            <a:avLst/>
          </a:prstGeom>
          <a:solidFill>
            <a:srgbClr val="BF9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658368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[1] Official documentation for the AI API / model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87752"/>
            <a:ext cx="658368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[2] Documentation for the web-search library or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18104"/>
            <a:ext cx="658368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[3] Papers on AI uncertainty and human oversight.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48456"/>
            <a:ext cx="6583680" cy="384048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400" b="0">
                <a:solidFill>
                  <a:srgbClr val="2F363B"/>
                </a:solidFill>
                <a:latin typeface="Aptos"/>
              </a:rPr>
              <a:t>[4] Project repository or test dataset, if appropriate.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8" y="2331720"/>
            <a:ext cx="3017521" cy="2174292"/>
          </a:xfrm>
          <a:prstGeom prst="roundRect">
            <a:avLst/>
          </a:prstGeom>
          <a:solidFill>
            <a:srgbClr val="F2F5F3"/>
          </a:solidFill>
          <a:ln>
            <a:solidFill>
              <a:srgbClr val="D6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2423160"/>
            <a:ext cx="54864" cy="1645920"/>
          </a:xfrm>
          <a:prstGeom prst="rect">
            <a:avLst/>
          </a:prstGeom>
          <a:solidFill>
            <a:srgbClr val="2C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1" y="2496312"/>
            <a:ext cx="2651760" cy="347472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500" b="1">
                <a:solidFill>
                  <a:srgbClr val="1F3042"/>
                </a:solidFill>
                <a:latin typeface="Aptos"/>
              </a:rPr>
              <a:t>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2944368"/>
            <a:ext cx="2633472" cy="1674305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 algn="l"/>
            <a:r>
              <a:rPr sz="1300" b="0" dirty="0">
                <a:solidFill>
                  <a:srgbClr val="2F363B"/>
                </a:solidFill>
                <a:latin typeface="Aptos"/>
              </a:rPr>
              <a:t>Thank you.
</a:t>
            </a:r>
            <a:r>
              <a:rPr lang="en-US" sz="1300" b="0" dirty="0">
                <a:solidFill>
                  <a:srgbClr val="2F363B"/>
                </a:solidFill>
                <a:latin typeface="Aptos"/>
              </a:rPr>
              <a:t>Participants:</a:t>
            </a:r>
          </a:p>
          <a:p>
            <a:pPr algn="l"/>
            <a:r>
              <a:rPr lang="en-US" sz="1300" dirty="0">
                <a:solidFill>
                  <a:srgbClr val="2F363B"/>
                </a:solidFill>
                <a:latin typeface="Aptos"/>
              </a:rPr>
              <a:t>	Abhay Koushik</a:t>
            </a:r>
          </a:p>
          <a:p>
            <a:pPr algn="l"/>
            <a:r>
              <a:rPr lang="en-US" sz="1300" b="0" dirty="0">
                <a:solidFill>
                  <a:srgbClr val="2F363B"/>
                </a:solidFill>
                <a:latin typeface="Aptos"/>
              </a:rPr>
              <a:t>	Aishwarya</a:t>
            </a:r>
          </a:p>
          <a:p>
            <a:pPr algn="l"/>
            <a:r>
              <a:rPr lang="en-US" sz="1300" dirty="0">
                <a:solidFill>
                  <a:srgbClr val="2F363B"/>
                </a:solidFill>
                <a:latin typeface="Aptos"/>
              </a:rPr>
              <a:t>	Anusha</a:t>
            </a:r>
          </a:p>
          <a:p>
            <a:pPr algn="l"/>
            <a:r>
              <a:rPr lang="en-US" sz="1300" dirty="0">
                <a:solidFill>
                  <a:srgbClr val="2F363B"/>
                </a:solidFill>
                <a:latin typeface="Aptos"/>
              </a:rPr>
              <a:t>	Anoushka</a:t>
            </a:r>
          </a:p>
          <a:p>
            <a:pPr algn="l"/>
            <a:r>
              <a:rPr lang="en-US" sz="1300" b="0" dirty="0">
                <a:solidFill>
                  <a:srgbClr val="2F363B"/>
                </a:solidFill>
                <a:latin typeface="Aptos"/>
              </a:rPr>
              <a:t>	Bharath B Gowda </a:t>
            </a:r>
          </a:p>
          <a:p>
            <a:pPr algn="l"/>
            <a:endParaRPr sz="1300" b="0" dirty="0">
              <a:solidFill>
                <a:srgbClr val="2F363B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